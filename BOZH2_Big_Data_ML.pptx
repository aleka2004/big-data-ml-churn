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9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БӨЖ 2 • Big Data Analytics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9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0"/>
            <a:ext cx="3456432" cy="3456432"/>
          </a:xfrm>
          <a:prstGeom prst="ellipse">
            <a:avLst/>
          </a:prstGeom>
          <a:solidFill>
            <a:srgbClr val="16A6A1">
              <a:alpha val="92000"/>
            </a:srgbClr>
          </a:solidFill>
          <a:ln w="12700">
            <a:solidFill>
              <a:srgbClr val="16A6A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840480"/>
            <a:ext cx="2103120" cy="2103120"/>
          </a:xfrm>
          <a:prstGeom prst="ellipse">
            <a:avLst/>
          </a:prstGeom>
          <a:solidFill>
            <a:srgbClr val="6C63FF">
              <a:alpha val="8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685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E6E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БӨЖ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7589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Big Data аналитикасында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машиналық оқыту әдістерін қолдану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3063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2F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Практикалық жоба: Customer Churn Prediction with Apache Spark MLlib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50749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әл-Фараби атындағы Қазақ ұлттық университеті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Орындаған: Alua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Жобаның мақсаты мен міндеттері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Big Data ортасында ML pipeline құрып, үш классификация моделін салыстыру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" cy="4343400"/>
          </a:xfrm>
          <a:prstGeom prst="rect">
            <a:avLst/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Мақсат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10896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Клиенттің churn ықтималдығын болжау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Үлкен көлемді деректерді Spark арқылы өңдеу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Модель сапасын бірнеше метрикамен бағалау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417320"/>
            <a:ext cx="73152" cy="4343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Негізгі міндеттер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1965960"/>
            <a:ext cx="310896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Синтетикалық Big Data генерациялау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Категориялық және сандық белгілерді өңдеу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Logistic Regression, Random Forest, GBT үйрету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417320"/>
            <a:ext cx="73152" cy="4343400"/>
          </a:xfrm>
          <a:prstGeom prst="rect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5819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Нәтиже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0184" y="1965960"/>
            <a:ext cx="301752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Accuracy, Precision, Recall, F1, ROC-AUC салыстыру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Ең тиімді модельді анықтау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Жобаны GitHub репозиторийі түрінде рәсімдеу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Big Data және машиналық оқыту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ML үлкен деректерден заңдылық табады, Spark есептеуді үлестіріп орындайды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1371600" cy="1371600"/>
          </a:xfrm>
          <a:prstGeom prst="ellipse">
            <a:avLst/>
          </a:prstGeom>
          <a:solidFill>
            <a:srgbClr val="2D7FF9">
              <a:alpha val="95000"/>
            </a:srgbClr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38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Volume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Дерек көлемі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99232" y="1508760"/>
            <a:ext cx="1371600" cy="1371600"/>
          </a:xfrm>
          <a:prstGeom prst="ellipse">
            <a:avLst/>
          </a:prstGeom>
          <a:solidFill>
            <a:srgbClr val="F59E0B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1938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Velocity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70632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Дерек ағу жылдамдығы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66944" y="1508760"/>
            <a:ext cx="1371600" cy="1371600"/>
          </a:xfrm>
          <a:prstGeom prst="ellipse">
            <a:avLst/>
          </a:prstGeom>
          <a:solidFill>
            <a:srgbClr val="6C63FF">
              <a:alpha val="9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12664" y="1938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Variety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38344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Форматтардың әртүрлілігі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34656" y="1508760"/>
            <a:ext cx="1371600" cy="1371600"/>
          </a:xfrm>
          <a:prstGeom prst="ellipse">
            <a:avLst/>
          </a:prstGeom>
          <a:solidFill>
            <a:srgbClr val="25A36F">
              <a:alpha val="95000"/>
            </a:srgbClr>
          </a:solidFill>
          <a:ln w="12700">
            <a:solidFill>
              <a:srgbClr val="25A3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0376" y="1938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Veracity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06056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Дерек сапасы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02368" y="1508760"/>
            <a:ext cx="1371600" cy="1371600"/>
          </a:xfrm>
          <a:prstGeom prst="ellipse">
            <a:avLst/>
          </a:prstGeom>
          <a:solidFill>
            <a:srgbClr val="16A6A1">
              <a:alpha val="95000"/>
            </a:srgbClr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8088" y="1938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73768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Пайдалы нәтиже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4069080"/>
            <a:ext cx="10149840" cy="1234440"/>
          </a:xfrm>
          <a:prstGeom prst="roundRect">
            <a:avLst>
              <a:gd name="adj" fmla="val 5926"/>
            </a:avLst>
          </a:prstGeom>
          <a:solidFill>
            <a:srgbClr val="EAF7F6"/>
          </a:solidFill>
          <a:ln w="12700">
            <a:solidFill>
              <a:srgbClr val="B9E5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416552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Spark MLlib → DataFrame + Feature Engineering + ML Pipeline + Distributed Training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Практикалық есеп: Customer Churn Prediction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Бинарлық классификация: клиент қалады ма, әлде қызметтен кетеді ме?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Кіріс белгілері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33172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382012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tenure_months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233172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2382012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monthly_spend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05840" y="2990088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040380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usage_hours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2990088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3040380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support_calls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3648456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698748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late_payments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3648456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3698748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satisfaction_score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4306824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357116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contract_type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4306824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4357116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region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2788920"/>
            <a:ext cx="1005840" cy="91440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214884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FF7E8"/>
          </a:solidFill>
          <a:ln w="12700">
            <a:solidFill>
              <a:srgbClr val="F6D8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25146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Мақсатты айнымалы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18120" y="30632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churn = 0 / 1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90956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 — клиент қалады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 — клиент кетеді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Жобаның архитектурасы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Деректерден модель нәтижесіне дейінгі Spark ML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D7F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267712"/>
            <a:ext cx="640080" cy="640080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231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81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customers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04872" y="2670048"/>
            <a:ext cx="32004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20116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6A6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267712"/>
            <a:ext cx="640080" cy="640080"/>
          </a:xfrm>
          <a:prstGeom prst="ellipse">
            <a:avLst/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4231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3081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DataFrame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Spark SQL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DataFrame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36592" y="2670048"/>
            <a:ext cx="32004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20116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2267712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4231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3081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Features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Indexer + OHE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Assembler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68312" y="2670048"/>
            <a:ext cx="32004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20116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2267712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24231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35240" y="3081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MLlib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3524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LR / RF / GBT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00032" y="2670048"/>
            <a:ext cx="32004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29800" y="20116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5A3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24160" y="2267712"/>
            <a:ext cx="640080" cy="640080"/>
          </a:xfrm>
          <a:prstGeom prst="ellipse">
            <a:avLst/>
          </a:prstGeom>
          <a:solidFill>
            <a:srgbClr val="25A36F"/>
          </a:solidFill>
          <a:ln w="12700">
            <a:solidFill>
              <a:srgbClr val="25A3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24231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966960" y="3081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5. Metrics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6696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F1 + AUC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comparison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Негізгі артықшылық: осы pipeline бір компьютерден кластерге дейін масштабталады.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Деректер жиыны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Жоба сыртқы құпия дерекке тәуелді емес — dataset код ішінде генерацияланады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63624"/>
            <a:ext cx="2066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Demo жазба саны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" y="1837944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D7F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80 000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563624"/>
            <a:ext cx="2066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55848" y="1837944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6A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60 000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760720" y="14173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0448" y="1563624"/>
            <a:ext cx="2066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70448" y="1837944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C63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20 000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75320" y="14173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563624"/>
            <a:ext cx="2066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Churn үлесі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85048" y="1837944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21.1%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31520" y="2788920"/>
            <a:ext cx="107442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Белгілер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5840" y="361188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66217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20440" y="361188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366217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tenure_months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361188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366217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monthly_spend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49640" y="361188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22792" y="366217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usage_hours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5840" y="4178808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229100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support_calls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20440" y="4178808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4229100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late_payments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4178808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4229100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satisfaction_score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49640" y="4178808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22792" y="4229100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contract_type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05840" y="4745736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" y="4796028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region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520440" y="4745736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93592" y="4796028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has_internet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35040" y="4745736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4796028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churn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Деректерді алдын ала өңдеу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Spark ML pipeline деректерді бірдей ережемен түрлендіреді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10149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426464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63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StringIndexer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15179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contract_type, region → сандық индекстер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58568"/>
            <a:ext cx="10149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359152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496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OneHotEncoder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450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категорияларды векторға түрлендіру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191256"/>
            <a:ext cx="10149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291840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429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VectorAssembler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3832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барлық белгіні features векторына біріктіру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123944"/>
            <a:ext cx="10149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4224528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361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Class Weight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43159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класс дисбалансын азайту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5056632"/>
            <a:ext cx="10149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5157216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25A36F"/>
          </a:solidFill>
          <a:ln w="12700">
            <a:solidFill>
              <a:srgbClr val="25A3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2943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52486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80% үйрету / 20% тест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Қолданылған машиналық оқыту әдістері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Үш модельдің логикасы әртүрлі, сондықтан оларды бір dataset-те салыстыру маңызды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73152" cy="4389120"/>
          </a:xfrm>
          <a:prstGeom prst="rect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310896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Сызықтық baseline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Жылдам үйретіледі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Коэффициенттерін интерпретациялау оңай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63040"/>
            <a:ext cx="73152" cy="4389120"/>
          </a:xfrm>
          <a:prstGeom prst="rect">
            <a:avLst/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27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310896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Көп decision tree ансамблі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Сызықтық емес байланыстарды ұстайды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Noise-қа салыстырмалы тұрақты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01000" y="146304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463040"/>
            <a:ext cx="73152" cy="4389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627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Gradient Boosted Trees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011680"/>
            <a:ext cx="310896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Ағаштарды біртіндеп күшейтеді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Күрделі тәуелділіктерге тиімді</a:t>
            </a:r>
            <a:endParaRPr lang="en-US" sz="1050" dirty="0"/>
          </a:p>
          <a:p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Бұл demo-да ROC-AUC ең жоғары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Бағалау метрикалары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Бір ғана accuracy жеткіліксіз: churn класы теңгерімсіз болуы мүмкін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184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7FF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0756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Барлық дұрыс болжам үлесі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4173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16A6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6184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6A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20756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Churn деп болжанғандардың қаншасы дұрыс?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4173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6184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200" y="20756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Нақты churn клиенттердің қаншасын таптық?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06040" y="37033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39044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43616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Precision мен Recall гармониялық ортасы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37033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25A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9044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A36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ROC-AUC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43616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Модельдің кластарды ажырату қабілеті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Модельдерді салыстыру нәтижесі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80 000 жазбалық жергілікті demo, seed = 42</a:t>
            </a:r>
            <a:endParaRPr lang="en-US" sz="1100" dirty="0"/>
          </a:p>
        </p:txBody>
      </p:sp>
      <p:pic>
        <p:nvPicPr>
          <p:cNvPr id="4" name="Image 0" descr="/mnt/data/big_data_ml_churn/result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749808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508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7928" y="1655064"/>
            <a:ext cx="2432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Ең жоғары ROC-AUC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67928" y="192938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0.7823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8458200" y="26974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67928" y="2843784"/>
            <a:ext cx="2432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Ең жоғары Accuracy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67928" y="311810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6A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0.7317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8458200" y="38862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7928" y="4032504"/>
            <a:ext cx="2432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GBT F1-score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67928" y="430682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C63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0.5123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275320" y="513892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Қорытынды: GBT ROC-AUC бойынша ең жақсы, RF accuracy бойынша сәл жоғары.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Ең жақсы модельді талдау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Gradient Boosted Trees күрделі сызықтық емес тәуелділіктерді жақсырақ ажыратты</a:t>
            </a:r>
            <a:endParaRPr lang="en-US" sz="1100" dirty="0"/>
          </a:p>
        </p:txBody>
      </p:sp>
      <p:pic>
        <p:nvPicPr>
          <p:cNvPr id="4" name="Image 0" descr="/mnt/data/big_data_ml_churn/results/confusion_matrix_b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074920" cy="4480560"/>
          </a:xfrm>
          <a:prstGeom prst="rect">
            <a:avLst/>
          </a:prstGeom>
        </p:spPr>
      </p:pic>
      <p:pic>
        <p:nvPicPr>
          <p:cNvPr id="5" name="Image 1" descr="/mnt/data/big_data_ml_churn/results/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417320"/>
            <a:ext cx="534924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45920" y="5897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766560" y="5897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Feature importance (RF арқылы түсіндіру)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Неліктен Apache Spark?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Үлкен деректерде есеп бір машинаның RAM көлемімен шектелмеуі керек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74520"/>
            <a:ext cx="658368" cy="65836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482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74520" y="17647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Parallel processing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partitions бірнеше executor-да өңделеді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16A6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74520"/>
            <a:ext cx="658368" cy="658368"/>
          </a:xfrm>
          <a:prstGeom prst="ellipse">
            <a:avLst/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482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06640" y="17647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DataFrame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Құрылымды деректерге жоғары деңгейлі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114800"/>
            <a:ext cx="658368" cy="65836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2885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4005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ML Pipeline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74520" y="4480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Preprocessing + model бір workflow ішінде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11480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2885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4005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06640" y="4480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--rows параметрімен 10⁵ → 10⁶+ жазбаға өту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GitHub жобасының құрылымы және іске қосу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Репозиторий қорғауға дайын: код, notebook, sample data және нәтижелер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45920"/>
            <a:ext cx="461772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big-data-ml-churn/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├─ src/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│  ├─ train_spark.py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│  └─ local_demo.py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├─ notebooks/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│  └─ big_data_ml_project.ipynb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├─ data/sample_customers.csv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├─ results/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├─ requirements.txt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└─ README.md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Іске қосу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EEF5FF"/>
          </a:solidFill>
          <a:ln w="12700">
            <a:solidFill>
              <a:srgbClr val="C8D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0574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5223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pip install -r requirements.txt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5223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 src/local_demo.py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5223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spark-submit src/train_spark.py --rows 1000000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630936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Негізгі дереккөздер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5080" y="3703320"/>
            <a:ext cx="47091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Apache Spark MLlib Main Guide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Spark ML Pipelines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PySpark ML classification API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GitHub сілтемесі репозиторий жарияланғаннан кейін осы слайдқа қойылады.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Қорытынды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Big Data + ML тәсілі практикалық классификация есебінде толық pipeline ретінде көрсетілді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399032"/>
            <a:ext cx="594360" cy="594360"/>
          </a:xfrm>
          <a:prstGeom prst="ellipse">
            <a:avLst/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453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325880"/>
            <a:ext cx="93268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Spark MLlib үлкен деректерге арналған үлестірілген машиналық оқыту құралдарын береді.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42032"/>
            <a:ext cx="594360" cy="594360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883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2468880"/>
            <a:ext cx="93268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Жобада Logistic Regression, Random Forest және Gradient Boosted Trees модельдері салыстырылды.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685032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313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3611880"/>
            <a:ext cx="93268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Demo нәтижесінде GBT ROC-AUC = 0.7823 көрсетіп, ең жақсы ажырату қабілетін берді.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828032"/>
            <a:ext cx="594360" cy="59436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9743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4754880"/>
            <a:ext cx="93268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Жоба Colab-та, локалды Python ортасында және Spark кластерінде іске қосуға дайын.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20240" y="5806440"/>
            <a:ext cx="8321040" cy="502920"/>
          </a:xfrm>
          <a:prstGeom prst="roundRect">
            <a:avLst>
              <a:gd name="adj" fmla="val 10909"/>
            </a:avLst>
          </a:prstGeom>
          <a:solidFill>
            <a:srgbClr val="EAF7F6"/>
          </a:solidFill>
          <a:ln w="12700">
            <a:solidFill>
              <a:srgbClr val="B9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594360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Негізгі идея: деректі дайындау → модельдеу → бағалау → масштабтау.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99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2286000" cy="2286000"/>
          </a:xfrm>
          <a:prstGeom prst="ellipse">
            <a:avLst/>
          </a:prstGeom>
          <a:solidFill>
            <a:srgbClr val="16A6A1">
              <a:alpha val="95000"/>
            </a:srgbClr>
          </a:solidFill>
          <a:ln w="12700">
            <a:solidFill>
              <a:srgbClr val="16A6A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0"/>
            <a:ext cx="2313432" cy="2313432"/>
          </a:xfrm>
          <a:prstGeom prst="ellipse">
            <a:avLst/>
          </a:prstGeom>
          <a:solidFill>
            <a:srgbClr val="6C63FF">
              <a:alpha val="88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01168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НАЗАРЛАРЫҢЫЗҒА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РАҚМЕТ!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011680" y="37033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0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Сұрақтарыңыз болса, жауап беруге дайынмын.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әл-Фараби атындағы ҚазҰУ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аналитикасында машиналық оқыту әдістерін қолдану</dc:title>
  <dc:subject>БӨЖ 2 — Big Data аналитикасында машиналық оқыту әдістерін қолдану</dc:subject>
  <dc:creator>Alua</dc:creator>
  <cp:lastModifiedBy>Alua</cp:lastModifiedBy>
  <cp:revision>1</cp:revision>
  <dcterms:created xsi:type="dcterms:W3CDTF">2026-10-18T16:00:48Z</dcterms:created>
  <dcterms:modified xsi:type="dcterms:W3CDTF">2026-10-18T16:00:48Z</dcterms:modified>
</cp:coreProperties>
</file>